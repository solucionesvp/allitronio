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5943600" cy="5943600"/>
          </a:xfrm>
          <a:prstGeom prst="ellipse">
            <a:avLst/>
          </a:prstGeom>
          <a:solidFill>
            <a:srgbClr val="034058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206240"/>
            <a:ext cx="4572000" cy="4572000"/>
          </a:xfrm>
          <a:prstGeom prst="ellipse">
            <a:avLst/>
          </a:prstGeom>
          <a:solidFill>
            <a:srgbClr val="034058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51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8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PARA GOOGLE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260604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spc="100" kern="0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ALLITRON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822960" y="3977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9A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Conectando el futuro.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461772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93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Tecnología, inteligencia artificial y estrategia para transformar empresas, conectar talento y acelerar la adopción del futuro.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6080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3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NAYARIT, MÉXICO   ·   AGOSTO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9A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QUIÉNES SOMOS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ecosistema de productos, no una sola herramienta.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6400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93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Allitron es la marca bajo la que construimos tecnología para negocios reales, operada junto con Somos Lázaro — nuestra agencia de marketing y sistemas.
</a:t>
            </a:r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93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vendemos una sola herramienta: construimos un portafolio de productos que resuelve problemas reales de operación, presencia y crecimiento — con base en Nayarit, México.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498080" y="1188720"/>
            <a:ext cx="4023360" cy="1325880"/>
          </a:xfrm>
          <a:prstGeom prst="roundRect">
            <a:avLst>
              <a:gd name="adj" fmla="val 6207"/>
            </a:avLst>
          </a:prstGeom>
          <a:solidFill>
            <a:srgbClr val="182430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0" y="1522476"/>
            <a:ext cx="658368" cy="658368"/>
          </a:xfrm>
          <a:prstGeom prst="ellipse">
            <a:avLst/>
          </a:prstGeom>
          <a:solidFill>
            <a:srgbClr val="1D2A3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6992" y="168706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41080" y="1188720"/>
            <a:ext cx="2651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TECNOLOGÍA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498080" y="2770632"/>
            <a:ext cx="4023360" cy="1325880"/>
          </a:xfrm>
          <a:prstGeom prst="roundRect">
            <a:avLst>
              <a:gd name="adj" fmla="val 6207"/>
            </a:avLst>
          </a:prstGeom>
          <a:solidFill>
            <a:srgbClr val="182430"/>
          </a:solidFill>
          <a:ln/>
        </p:spPr>
      </p:sp>
      <p:sp>
        <p:nvSpPr>
          <p:cNvPr id="10" name="Shape 7"/>
          <p:cNvSpPr/>
          <p:nvPr/>
        </p:nvSpPr>
        <p:spPr>
          <a:xfrm>
            <a:off x="7772400" y="3104388"/>
            <a:ext cx="658368" cy="658368"/>
          </a:xfrm>
          <a:prstGeom prst="ellipse">
            <a:avLst/>
          </a:prstGeom>
          <a:solidFill>
            <a:srgbClr val="1D2A3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6992" y="3268980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641080" y="2770632"/>
            <a:ext cx="2651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INTELIGENCIA</a:t>
            </a:r>
            <a:endParaRPr lang="en-US" sz="1500" dirty="0"/>
          </a:p>
          <a:p>
            <a:pPr indent="0" marL="0">
              <a:buNone/>
            </a:pPr>
            <a:r>
              <a:rPr lang="en-US" sz="1500" b="1" spc="100" kern="0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ARTIFICIAL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7498080" y="4352544"/>
            <a:ext cx="4023360" cy="1325880"/>
          </a:xfrm>
          <a:prstGeom prst="roundRect">
            <a:avLst>
              <a:gd name="adj" fmla="val 6207"/>
            </a:avLst>
          </a:prstGeom>
          <a:solidFill>
            <a:srgbClr val="182430"/>
          </a:solidFill>
          <a:ln/>
        </p:spPr>
      </p:sp>
      <p:sp>
        <p:nvSpPr>
          <p:cNvPr id="14" name="Shape 10"/>
          <p:cNvSpPr/>
          <p:nvPr/>
        </p:nvSpPr>
        <p:spPr>
          <a:xfrm>
            <a:off x="7772400" y="4686300"/>
            <a:ext cx="658368" cy="658368"/>
          </a:xfrm>
          <a:prstGeom prst="ellipse">
            <a:avLst/>
          </a:prstGeom>
          <a:solidFill>
            <a:srgbClr val="1D2A37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992" y="4850892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641080" y="4352544"/>
            <a:ext cx="2651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ESTRATEGIA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0088575" y="6355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ALLITRON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9A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mayoría de los negocios reales todavía no tienen la infraestructura que ya existe.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3429000" cy="3200400"/>
          </a:xfrm>
          <a:prstGeom prst="roundRect">
            <a:avLst>
              <a:gd name="adj" fmla="val 2571"/>
            </a:avLst>
          </a:prstGeom>
          <a:solidFill>
            <a:srgbClr val="182430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651760"/>
            <a:ext cx="685800" cy="685800"/>
          </a:xfrm>
          <a:prstGeom prst="ellipse">
            <a:avLst/>
          </a:prstGeom>
          <a:solidFill>
            <a:srgbClr val="1D2A3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1570" y="2823210"/>
            <a:ext cx="342900" cy="342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56616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Invisibles en búsqueda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0120" y="411480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93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Negocios que existen pero no aparecen cuando alguien los busca en Google.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89120" y="2331720"/>
            <a:ext cx="3429000" cy="3200400"/>
          </a:xfrm>
          <a:prstGeom prst="roundRect">
            <a:avLst>
              <a:gd name="adj" fmla="val 2571"/>
            </a:avLst>
          </a:prstGeom>
          <a:solidFill>
            <a:srgbClr val="182430"/>
          </a:solidFill>
          <a:ln/>
        </p:spPr>
      </p:sp>
      <p:sp>
        <p:nvSpPr>
          <p:cNvPr id="10" name="Shape 7"/>
          <p:cNvSpPr/>
          <p:nvPr/>
        </p:nvSpPr>
        <p:spPr>
          <a:xfrm>
            <a:off x="4709160" y="2651760"/>
            <a:ext cx="685800" cy="685800"/>
          </a:xfrm>
          <a:prstGeom prst="ellipse">
            <a:avLst/>
          </a:prstGeom>
          <a:solidFill>
            <a:srgbClr val="1D2A3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0610" y="2823210"/>
            <a:ext cx="342900" cy="3429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09160" y="356616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Operación dispersa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709160" y="411480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93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y servicio que viven en WhatsApp — sin sistema, sin registro, sin seguimiento.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38160" y="2331720"/>
            <a:ext cx="3429000" cy="3200400"/>
          </a:xfrm>
          <a:prstGeom prst="roundRect">
            <a:avLst>
              <a:gd name="adj" fmla="val 2571"/>
            </a:avLst>
          </a:prstGeom>
          <a:solidFill>
            <a:srgbClr val="182430"/>
          </a:solidFill>
          <a:ln/>
        </p:spPr>
      </p:sp>
      <p:sp>
        <p:nvSpPr>
          <p:cNvPr id="15" name="Shape 11"/>
          <p:cNvSpPr/>
          <p:nvPr/>
        </p:nvSpPr>
        <p:spPr>
          <a:xfrm>
            <a:off x="8458200" y="2651760"/>
            <a:ext cx="685800" cy="685800"/>
          </a:xfrm>
          <a:prstGeom prst="ellipse">
            <a:avLst/>
          </a:prstGeom>
          <a:solidFill>
            <a:srgbClr val="1D2A3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9650" y="2823210"/>
            <a:ext cx="342900" cy="3429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58200" y="356616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Talento sin comunidad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458200" y="411480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93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Gente construyendo tecnología en Nayarit, sin un lugar donde encontrarse.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0088575" y="6355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ALLITRON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9A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PORTAFOLIO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productos. Un mismo criterio: resolver, no complicar.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166360" cy="1783080"/>
          </a:xfrm>
          <a:prstGeom prst="roundRect">
            <a:avLst>
              <a:gd name="adj" fmla="val 4615"/>
            </a:avLst>
          </a:prstGeom>
          <a:solidFill>
            <a:srgbClr val="182430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94560"/>
            <a:ext cx="621792" cy="621792"/>
          </a:xfrm>
          <a:prstGeom prst="ellipse">
            <a:avLst/>
          </a:prstGeom>
          <a:solidFill>
            <a:srgbClr val="F2874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350008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13969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28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ALLITRON — PRODUCTO PROPIO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737360" y="239572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ALLITRON 90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297180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3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+ ejecución. Encuentra el cuello de botella, construye los próximos 90 días.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080760" y="1920240"/>
            <a:ext cx="5166360" cy="1783080"/>
          </a:xfrm>
          <a:prstGeom prst="roundRect">
            <a:avLst>
              <a:gd name="adj" fmla="val 4615"/>
            </a:avLst>
          </a:prstGeom>
          <a:solidFill>
            <a:srgbClr val="182430"/>
          </a:solidFill>
          <a:ln/>
        </p:spPr>
      </p:sp>
      <p:sp>
        <p:nvSpPr>
          <p:cNvPr id="11" name="Shape 8"/>
          <p:cNvSpPr/>
          <p:nvPr/>
        </p:nvSpPr>
        <p:spPr>
          <a:xfrm>
            <a:off x="6355080" y="2194560"/>
            <a:ext cx="621792" cy="621792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2350008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78040" y="213969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SOMOS LÁZARO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7178040" y="239572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DOMINA GOOGLE. ATRAE CLIENTES.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355080" y="297180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3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Presencia local. Que te encuentren cuando alguien busca lo que vendes en tu ciudad.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40080" y="3959352"/>
            <a:ext cx="5166360" cy="1783080"/>
          </a:xfrm>
          <a:prstGeom prst="roundRect">
            <a:avLst>
              <a:gd name="adj" fmla="val 4615"/>
            </a:avLst>
          </a:prstGeom>
          <a:solidFill>
            <a:srgbClr val="182430"/>
          </a:solidFill>
          <a:ln/>
        </p:spPr>
      </p:sp>
      <p:sp>
        <p:nvSpPr>
          <p:cNvPr id="17" name="Shape 13"/>
          <p:cNvSpPr/>
          <p:nvPr/>
        </p:nvSpPr>
        <p:spPr>
          <a:xfrm>
            <a:off x="914400" y="4233672"/>
            <a:ext cx="621792" cy="621792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4389120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737360" y="417880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SOMOS LÁZARO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737360" y="443484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SEGUNDO CEREBRO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914400" y="5010912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3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 operativa personal. Captura, contexto y prioridad para el operador.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080760" y="3959352"/>
            <a:ext cx="5166360" cy="1783080"/>
          </a:xfrm>
          <a:prstGeom prst="roundRect">
            <a:avLst>
              <a:gd name="adj" fmla="val 4615"/>
            </a:avLst>
          </a:prstGeom>
          <a:solidFill>
            <a:srgbClr val="182430"/>
          </a:solidFill>
          <a:ln/>
        </p:spPr>
      </p:sp>
      <p:sp>
        <p:nvSpPr>
          <p:cNvPr id="23" name="Shape 18"/>
          <p:cNvSpPr/>
          <p:nvPr/>
        </p:nvSpPr>
        <p:spPr>
          <a:xfrm>
            <a:off x="6355080" y="4233672"/>
            <a:ext cx="621792" cy="621792"/>
          </a:xfrm>
          <a:prstGeom prst="ellipse">
            <a:avLst/>
          </a:prstGeom>
          <a:solidFill>
            <a:srgbClr val="D84482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28" y="4389120"/>
            <a:ext cx="310896" cy="31089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178040" y="417880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84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SOMOS LÁZARO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7178040" y="443484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LAZUP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6355080" y="5010912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3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operación del negocio, en un solo sistema: clientes, ventas, catálogo, equipo e IA.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10088575" y="6355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ALLITRON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8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01 · ALLITRON — PRODUCTO PROPIO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00"/>
              </a:lnSpc>
              <a:buNone/>
            </a:pPr>
            <a:r>
              <a:rPr lang="en-US" sz="2700" b="1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Encuentra el cuello de botella.</a:t>
            </a:r>
            <a:endParaRPr lang="en-US" sz="2700" dirty="0"/>
          </a:p>
          <a:p>
            <a:pPr indent="0" marL="0">
              <a:lnSpc>
                <a:spcPts val="3100"/>
              </a:lnSpc>
              <a:buNone/>
            </a:pPr>
            <a:r>
              <a:rPr lang="en-US" sz="2700" b="1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Construye los próximos 90 días.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23317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8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34440" y="23317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3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consultoría real, pregunta por pregunta — no un formulario genérico.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304495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8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3044952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3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encuentra un solo cuello de botella. No una lista de diez problemas.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758184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8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3758184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3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definen 3 objetivos concretos para resolverlo.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4471416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8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4471416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3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de 90 días: qué hacer cada día.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518464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8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5184648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3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Alejandro Valdés revisa el resultado en persona y guía los 90 días.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086600" y="2331720"/>
            <a:ext cx="4480560" cy="3566160"/>
          </a:xfrm>
          <a:prstGeom prst="roundRect">
            <a:avLst>
              <a:gd name="adj" fmla="val 2308"/>
            </a:avLst>
          </a:prstGeom>
          <a:solidFill>
            <a:srgbClr val="182430"/>
          </a:solidFill>
          <a:ln/>
        </p:spPr>
      </p:sp>
      <p:sp>
        <p:nvSpPr>
          <p:cNvPr id="15" name="Text 13"/>
          <p:cNvSpPr/>
          <p:nvPr/>
        </p:nvSpPr>
        <p:spPr>
          <a:xfrm>
            <a:off x="7406640" y="2606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28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RECIBE EL CLIENTE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406640" y="3063240"/>
            <a:ext cx="365760" cy="365760"/>
          </a:xfrm>
          <a:prstGeom prst="ellipse">
            <a:avLst/>
          </a:prstGeom>
          <a:solidFill>
            <a:srgbClr val="1D2A37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3154680"/>
            <a:ext cx="182880" cy="18288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909560" y="304495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cuello de botella identificado con claridad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406640" y="3721608"/>
            <a:ext cx="365760" cy="365760"/>
          </a:xfrm>
          <a:prstGeom prst="ellipse">
            <a:avLst/>
          </a:prstGeom>
          <a:solidFill>
            <a:srgbClr val="1D2A37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3813048"/>
            <a:ext cx="182880" cy="1828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909560" y="37033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objetivos concretos para 90 días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7406640" y="4379976"/>
            <a:ext cx="365760" cy="365760"/>
          </a:xfrm>
          <a:prstGeom prst="ellipse">
            <a:avLst/>
          </a:prstGeom>
          <a:solidFill>
            <a:srgbClr val="1D2A37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4471416"/>
            <a:ext cx="182880" cy="18288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909560" y="436168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día por día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7406640" y="5038344"/>
            <a:ext cx="365760" cy="365760"/>
          </a:xfrm>
          <a:prstGeom prst="ellipse">
            <a:avLst/>
          </a:prstGeom>
          <a:solidFill>
            <a:srgbClr val="1D2A37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5129784"/>
            <a:ext cx="182880" cy="18288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909560" y="502005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Acompañamiento personal de Alejandro Valdés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10088575" y="6355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ALLITRON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02 · BY SOMOS LÁZARO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DOMINA GOOGLE. ATRAE CLIENTES.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536192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3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Construimos la infraestructura digital que conecta el negocio, su sitio web, Google y sus canales de contacto — para aparecer cuando alguien busca lo que vende en su ciudad.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6492240" cy="3566160"/>
          </a:xfrm>
          <a:prstGeom prst="roundRect">
            <a:avLst>
              <a:gd name="adj" fmla="val 2308"/>
            </a:avLst>
          </a:prstGeom>
          <a:solidFill>
            <a:srgbClr val="182430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606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INCLUYE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60120" y="3063240"/>
            <a:ext cx="329184" cy="329184"/>
          </a:xfrm>
          <a:prstGeom prst="ellipse">
            <a:avLst/>
          </a:prstGeom>
          <a:solidFill>
            <a:srgbClr val="1D2A37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3145536"/>
            <a:ext cx="164592" cy="1645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303580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web Next.js de alta velocidad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960120" y="3593592"/>
            <a:ext cx="329184" cy="329184"/>
          </a:xfrm>
          <a:prstGeom prst="ellipse">
            <a:avLst/>
          </a:prstGeom>
          <a:solidFill>
            <a:srgbClr val="1D2A3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" y="3675888"/>
            <a:ext cx="164592" cy="1645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35661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de Google Business Profile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960120" y="4123944"/>
            <a:ext cx="329184" cy="329184"/>
          </a:xfrm>
          <a:prstGeom prst="ellipse">
            <a:avLst/>
          </a:prstGeom>
          <a:solidFill>
            <a:srgbClr val="1D2A37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4206240"/>
            <a:ext cx="164592" cy="16459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409651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entre el sitio y Google Maps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960120" y="4654296"/>
            <a:ext cx="329184" cy="329184"/>
          </a:xfrm>
          <a:prstGeom prst="ellipse">
            <a:avLst/>
          </a:prstGeom>
          <a:solidFill>
            <a:srgbClr val="1D2A37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416" y="4736592"/>
            <a:ext cx="164592" cy="16459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17320" y="4626864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inicial para búsquedas de intención local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960120" y="5184648"/>
            <a:ext cx="329184" cy="329184"/>
          </a:xfrm>
          <a:prstGeom prst="ellipse">
            <a:avLst/>
          </a:prstGeom>
          <a:solidFill>
            <a:srgbClr val="1D2A37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416" y="5266944"/>
            <a:ext cx="164592" cy="16459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417320" y="5157216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Homologación de datos en web y redes</a:t>
            </a:r>
            <a:endParaRPr lang="en-US" sz="1200" dirty="0"/>
          </a:p>
        </p:txBody>
      </p:sp>
      <p:sp>
        <p:nvSpPr>
          <p:cNvPr id="22" name="Shape 15"/>
          <p:cNvSpPr/>
          <p:nvPr/>
        </p:nvSpPr>
        <p:spPr>
          <a:xfrm>
            <a:off x="960120" y="5715000"/>
            <a:ext cx="329184" cy="329184"/>
          </a:xfrm>
          <a:prstGeom prst="ellipse">
            <a:avLst/>
          </a:prstGeom>
          <a:solidFill>
            <a:srgbClr val="1D2A37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" y="5797296"/>
            <a:ext cx="164592" cy="164592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417320" y="568756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Botón de contacto directo a WhatsApp</a:t>
            </a:r>
            <a:endParaRPr lang="en-US" sz="1200" dirty="0"/>
          </a:p>
        </p:txBody>
      </p:sp>
      <p:sp>
        <p:nvSpPr>
          <p:cNvPr id="25" name="Shape 17"/>
          <p:cNvSpPr/>
          <p:nvPr/>
        </p:nvSpPr>
        <p:spPr>
          <a:xfrm>
            <a:off x="7360920" y="2331720"/>
            <a:ext cx="4206240" cy="3566160"/>
          </a:xfrm>
          <a:prstGeom prst="roundRect">
            <a:avLst>
              <a:gd name="adj" fmla="val 2308"/>
            </a:avLst>
          </a:prstGeom>
          <a:solidFill>
            <a:srgbClr val="1D2A37"/>
          </a:solidFill>
          <a:ln/>
        </p:spPr>
      </p:sp>
      <p:sp>
        <p:nvSpPr>
          <p:cNvPr id="26" name="Text 18"/>
          <p:cNvSpPr/>
          <p:nvPr/>
        </p:nvSpPr>
        <p:spPr>
          <a:xfrm>
            <a:off x="7680960" y="2606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</a:t>
            </a:r>
            <a:endParaRPr lang="en-US" sz="1000" dirty="0"/>
          </a:p>
        </p:txBody>
      </p:sp>
      <p:sp>
        <p:nvSpPr>
          <p:cNvPr id="27" name="Text 19"/>
          <p:cNvSpPr/>
          <p:nvPr/>
        </p:nvSpPr>
        <p:spPr>
          <a:xfrm>
            <a:off x="7680960" y="29260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$13,000 MXN</a:t>
            </a:r>
            <a:endParaRPr lang="en-US" sz="3400" dirty="0"/>
          </a:p>
        </p:txBody>
      </p:sp>
      <p:sp>
        <p:nvSpPr>
          <p:cNvPr id="28" name="Text 20"/>
          <p:cNvSpPr/>
          <p:nvPr/>
        </p:nvSpPr>
        <p:spPr>
          <a:xfrm>
            <a:off x="7680960" y="36118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3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$6,500 MXN de anticipo · $6,500 MXN contra entrega</a:t>
            </a:r>
            <a:endParaRPr lang="en-US" sz="1100" dirty="0"/>
          </a:p>
        </p:txBody>
      </p:sp>
      <p:sp>
        <p:nvSpPr>
          <p:cNvPr id="29" name="Text 21"/>
          <p:cNvSpPr/>
          <p:nvPr/>
        </p:nvSpPr>
        <p:spPr>
          <a:xfrm>
            <a:off x="7680960" y="41605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3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en 7 días hábiles a partir de recibir el 100% del material.</a:t>
            </a:r>
            <a:endParaRPr lang="en-US" sz="1100" dirty="0"/>
          </a:p>
        </p:txBody>
      </p:sp>
      <p:sp>
        <p:nvSpPr>
          <p:cNvPr id="30" name="Text 22"/>
          <p:cNvSpPr/>
          <p:nvPr/>
        </p:nvSpPr>
        <p:spPr>
          <a:xfrm>
            <a:off x="7680960" y="516636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spc="50" kern="0" dirty="0">
                <a:solidFill>
                  <a:srgbClr val="93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PARA: CLÍNICAS · ESTÉTICAS · TALLERES · RESTAURANTES · DESPACHOS · SERVICIOS PROFESIONALES</a:t>
            </a:r>
            <a:endParaRPr lang="en-US" sz="850" dirty="0"/>
          </a:p>
        </p:txBody>
      </p:sp>
      <p:sp>
        <p:nvSpPr>
          <p:cNvPr id="31" name="Text 23"/>
          <p:cNvSpPr/>
          <p:nvPr/>
        </p:nvSpPr>
        <p:spPr>
          <a:xfrm>
            <a:off x="10088575" y="6355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ALLITRON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03 · BY SOMOS LÁZARO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OPERACIÓN. TU MEMORIA. UN SOLO LUGAR.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3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sistema personal para dueños, operadores y profesionales que necesitan capturar lo que ocurre en el día, recuperar contexto y convertir información dispersa en acciones claras.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337560" cy="1417320"/>
          </a:xfrm>
          <a:prstGeom prst="roundRect">
            <a:avLst>
              <a:gd name="adj" fmla="val 5806"/>
            </a:avLst>
          </a:prstGeom>
          <a:solidFill>
            <a:srgbClr val="182430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560320"/>
            <a:ext cx="457200" cy="457200"/>
          </a:xfrm>
          <a:prstGeom prst="ellipse">
            <a:avLst/>
          </a:prstGeom>
          <a:solidFill>
            <a:srgbClr val="1D2A3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674620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10896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Personas y organizaciones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68680" y="3392424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3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con resumen acumulativo por fecha.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233672" y="2331720"/>
            <a:ext cx="3337560" cy="1417320"/>
          </a:xfrm>
          <a:prstGeom prst="roundRect">
            <a:avLst>
              <a:gd name="adj" fmla="val 5806"/>
            </a:avLst>
          </a:prstGeom>
          <a:solidFill>
            <a:srgbClr val="182430"/>
          </a:solidFill>
          <a:ln/>
        </p:spPr>
      </p:sp>
      <p:sp>
        <p:nvSpPr>
          <p:cNvPr id="11" name="Shape 8"/>
          <p:cNvSpPr/>
          <p:nvPr/>
        </p:nvSpPr>
        <p:spPr>
          <a:xfrm>
            <a:off x="4462272" y="2560320"/>
            <a:ext cx="457200" cy="457200"/>
          </a:xfrm>
          <a:prstGeom prst="ellipse">
            <a:avLst/>
          </a:prstGeom>
          <a:solidFill>
            <a:srgbClr val="1D2A3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6572" y="2674620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62272" y="310896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Proyectos e ideas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462272" y="3392424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3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busca antes de crear — nunca duplica.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7827264" y="2331720"/>
            <a:ext cx="3337560" cy="1417320"/>
          </a:xfrm>
          <a:prstGeom prst="roundRect">
            <a:avLst>
              <a:gd name="adj" fmla="val 5806"/>
            </a:avLst>
          </a:prstGeom>
          <a:solidFill>
            <a:srgbClr val="182430"/>
          </a:solidFill>
          <a:ln/>
        </p:spPr>
      </p:sp>
      <p:sp>
        <p:nvSpPr>
          <p:cNvPr id="16" name="Shape 12"/>
          <p:cNvSpPr/>
          <p:nvPr/>
        </p:nvSpPr>
        <p:spPr>
          <a:xfrm>
            <a:off x="8055864" y="2560320"/>
            <a:ext cx="457200" cy="457200"/>
          </a:xfrm>
          <a:prstGeom prst="ellipse">
            <a:avLst/>
          </a:prstGeom>
          <a:solidFill>
            <a:srgbClr val="1D2A37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0164" y="2674620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055864" y="310896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Tareas con prioridad real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8055864" y="3392424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3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 por vencida, prioridad y compromiso.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640080" y="3950208"/>
            <a:ext cx="3337560" cy="1417320"/>
          </a:xfrm>
          <a:prstGeom prst="roundRect">
            <a:avLst>
              <a:gd name="adj" fmla="val 5806"/>
            </a:avLst>
          </a:prstGeom>
          <a:solidFill>
            <a:srgbClr val="182430"/>
          </a:solidFill>
          <a:ln/>
        </p:spPr>
      </p:sp>
      <p:sp>
        <p:nvSpPr>
          <p:cNvPr id="21" name="Shape 16"/>
          <p:cNvSpPr/>
          <p:nvPr/>
        </p:nvSpPr>
        <p:spPr>
          <a:xfrm>
            <a:off x="868680" y="4178808"/>
            <a:ext cx="457200" cy="457200"/>
          </a:xfrm>
          <a:prstGeom prst="ellipse">
            <a:avLst/>
          </a:prstGeom>
          <a:solidFill>
            <a:srgbClr val="1D2A37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" y="4293108"/>
            <a:ext cx="228600" cy="2286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68680" y="472744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Interacciones y reuniones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868680" y="501091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3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integran directo a la ficha de la persona.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4233672" y="3950208"/>
            <a:ext cx="3337560" cy="1417320"/>
          </a:xfrm>
          <a:prstGeom prst="roundRect">
            <a:avLst>
              <a:gd name="adj" fmla="val 5806"/>
            </a:avLst>
          </a:prstGeom>
          <a:solidFill>
            <a:srgbClr val="182430"/>
          </a:solidFill>
          <a:ln/>
        </p:spPr>
      </p:sp>
      <p:sp>
        <p:nvSpPr>
          <p:cNvPr id="26" name="Shape 20"/>
          <p:cNvSpPr/>
          <p:nvPr/>
        </p:nvSpPr>
        <p:spPr>
          <a:xfrm>
            <a:off x="4462272" y="4178808"/>
            <a:ext cx="457200" cy="457200"/>
          </a:xfrm>
          <a:prstGeom prst="ellipse">
            <a:avLst/>
          </a:prstGeom>
          <a:solidFill>
            <a:srgbClr val="1D2A37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6572" y="4293108"/>
            <a:ext cx="228600" cy="2286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462272" y="472744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Finanzas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4462272" y="501091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3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 e ingresos capturados por texto, al ledger real.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7827264" y="3950208"/>
            <a:ext cx="3337560" cy="1417320"/>
          </a:xfrm>
          <a:prstGeom prst="roundRect">
            <a:avLst>
              <a:gd name="adj" fmla="val 5806"/>
            </a:avLst>
          </a:prstGeom>
          <a:solidFill>
            <a:srgbClr val="182430"/>
          </a:solidFill>
          <a:ln/>
        </p:spPr>
      </p:sp>
      <p:sp>
        <p:nvSpPr>
          <p:cNvPr id="31" name="Shape 24"/>
          <p:cNvSpPr/>
          <p:nvPr/>
        </p:nvSpPr>
        <p:spPr>
          <a:xfrm>
            <a:off x="8055864" y="4178808"/>
            <a:ext cx="457200" cy="457200"/>
          </a:xfrm>
          <a:prstGeom prst="ellipse">
            <a:avLst/>
          </a:prstGeom>
          <a:solidFill>
            <a:srgbClr val="1D2A37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0164" y="4293108"/>
            <a:ext cx="228600" cy="22860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055864" y="472744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Notas de voz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8055864" y="501091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3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transcriben y siguen el mismo flujo que el texto.</a:t>
            </a:r>
            <a:endParaRPr lang="en-US" sz="950" dirty="0"/>
          </a:p>
        </p:txBody>
      </p:sp>
      <p:sp>
        <p:nvSpPr>
          <p:cNvPr id="35" name="Text 27"/>
          <p:cNvSpPr/>
          <p:nvPr/>
        </p:nvSpPr>
        <p:spPr>
          <a:xfrm>
            <a:off x="640080" y="598932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950" b="1" spc="15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BÁSICO
</a:t>
            </a:r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$23,000 MXN</a:t>
            </a:r>
            <a:endParaRPr lang="en-US" sz="950" dirty="0"/>
          </a:p>
        </p:txBody>
      </p:sp>
      <p:sp>
        <p:nvSpPr>
          <p:cNvPr id="36" name="Text 28"/>
          <p:cNvSpPr/>
          <p:nvPr/>
        </p:nvSpPr>
        <p:spPr>
          <a:xfrm>
            <a:off x="4233672" y="598932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950" b="1" spc="15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INTERMEDIO
</a:t>
            </a:r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$30,000 MXN</a:t>
            </a:r>
            <a:endParaRPr lang="en-US" sz="950" dirty="0"/>
          </a:p>
        </p:txBody>
      </p:sp>
      <p:sp>
        <p:nvSpPr>
          <p:cNvPr id="37" name="Text 29"/>
          <p:cNvSpPr/>
          <p:nvPr/>
        </p:nvSpPr>
        <p:spPr>
          <a:xfrm>
            <a:off x="7827264" y="598932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950" b="1" spc="15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
</a:t>
            </a:r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por definir</a:t>
            </a:r>
            <a:endParaRPr lang="en-US" sz="950" dirty="0"/>
          </a:p>
        </p:txBody>
      </p:sp>
      <p:sp>
        <p:nvSpPr>
          <p:cNvPr id="38" name="Text 30"/>
          <p:cNvSpPr/>
          <p:nvPr/>
        </p:nvSpPr>
        <p:spPr>
          <a:xfrm>
            <a:off x="10088575" y="6355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ALLITRON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84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04 · BY SOMOS LÁZARO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OPERACIÓN DEL NEGOCIO, EN UN SOLO SISTEMA.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3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plataforma para PYMEs que conecta clientes, conversaciones, oportunidades, tareas, catálogo, equipo, citas y automatización en una misma operación.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337560" cy="1417320"/>
          </a:xfrm>
          <a:prstGeom prst="roundRect">
            <a:avLst>
              <a:gd name="adj" fmla="val 5806"/>
            </a:avLst>
          </a:prstGeom>
          <a:solidFill>
            <a:srgbClr val="182430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560320"/>
            <a:ext cx="457200" cy="457200"/>
          </a:xfrm>
          <a:prstGeom prst="ellipse">
            <a:avLst/>
          </a:prstGeom>
          <a:solidFill>
            <a:srgbClr val="1D2A3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674620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10896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Contacto 360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68680" y="3392424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3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Identidad, historial y notas en una sola ficha.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233672" y="2331720"/>
            <a:ext cx="3337560" cy="1417320"/>
          </a:xfrm>
          <a:prstGeom prst="roundRect">
            <a:avLst>
              <a:gd name="adj" fmla="val 5806"/>
            </a:avLst>
          </a:prstGeom>
          <a:solidFill>
            <a:srgbClr val="182430"/>
          </a:solidFill>
          <a:ln/>
        </p:spPr>
      </p:sp>
      <p:sp>
        <p:nvSpPr>
          <p:cNvPr id="11" name="Shape 8"/>
          <p:cNvSpPr/>
          <p:nvPr/>
        </p:nvSpPr>
        <p:spPr>
          <a:xfrm>
            <a:off x="4462272" y="2560320"/>
            <a:ext cx="457200" cy="457200"/>
          </a:xfrm>
          <a:prstGeom prst="ellipse">
            <a:avLst/>
          </a:prstGeom>
          <a:solidFill>
            <a:srgbClr val="1D2A3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6572" y="2674620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62272" y="310896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Conversaciones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462272" y="3392424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3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Bandeja con asignación automática y estados de WhatsApp.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7827264" y="2331720"/>
            <a:ext cx="3337560" cy="1417320"/>
          </a:xfrm>
          <a:prstGeom prst="roundRect">
            <a:avLst>
              <a:gd name="adj" fmla="val 5806"/>
            </a:avLst>
          </a:prstGeom>
          <a:solidFill>
            <a:srgbClr val="182430"/>
          </a:solidFill>
          <a:ln/>
        </p:spPr>
      </p:sp>
      <p:sp>
        <p:nvSpPr>
          <p:cNvPr id="16" name="Shape 12"/>
          <p:cNvSpPr/>
          <p:nvPr/>
        </p:nvSpPr>
        <p:spPr>
          <a:xfrm>
            <a:off x="8055864" y="2560320"/>
            <a:ext cx="457200" cy="457200"/>
          </a:xfrm>
          <a:prstGeom prst="ellipse">
            <a:avLst/>
          </a:prstGeom>
          <a:solidFill>
            <a:srgbClr val="1D2A37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0164" y="2674620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055864" y="310896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Ventas y oportunidades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8055864" y="3392424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3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conectado a cada conversación.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640080" y="3950208"/>
            <a:ext cx="3337560" cy="1417320"/>
          </a:xfrm>
          <a:prstGeom prst="roundRect">
            <a:avLst>
              <a:gd name="adj" fmla="val 5806"/>
            </a:avLst>
          </a:prstGeom>
          <a:solidFill>
            <a:srgbClr val="182430"/>
          </a:solidFill>
          <a:ln/>
        </p:spPr>
      </p:sp>
      <p:sp>
        <p:nvSpPr>
          <p:cNvPr id="21" name="Shape 16"/>
          <p:cNvSpPr/>
          <p:nvPr/>
        </p:nvSpPr>
        <p:spPr>
          <a:xfrm>
            <a:off x="868680" y="4178808"/>
            <a:ext cx="457200" cy="457200"/>
          </a:xfrm>
          <a:prstGeom prst="ellipse">
            <a:avLst/>
          </a:prstGeom>
          <a:solidFill>
            <a:srgbClr val="1D2A37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" y="4293108"/>
            <a:ext cx="228600" cy="2286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68680" y="472744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 y citas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868680" y="501091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3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 real — nunca se agenda lo que no existe.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4233672" y="3950208"/>
            <a:ext cx="3337560" cy="1417320"/>
          </a:xfrm>
          <a:prstGeom prst="roundRect">
            <a:avLst>
              <a:gd name="adj" fmla="val 5806"/>
            </a:avLst>
          </a:prstGeom>
          <a:solidFill>
            <a:srgbClr val="182430"/>
          </a:solidFill>
          <a:ln/>
        </p:spPr>
      </p:sp>
      <p:sp>
        <p:nvSpPr>
          <p:cNvPr id="26" name="Shape 20"/>
          <p:cNvSpPr/>
          <p:nvPr/>
        </p:nvSpPr>
        <p:spPr>
          <a:xfrm>
            <a:off x="4462272" y="4178808"/>
            <a:ext cx="457200" cy="457200"/>
          </a:xfrm>
          <a:prstGeom prst="ellipse">
            <a:avLst/>
          </a:prstGeom>
          <a:solidFill>
            <a:srgbClr val="1D2A37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6572" y="4293108"/>
            <a:ext cx="228600" cy="2286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462272" y="472744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y departamentos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4462272" y="501091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3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claros, bandeja propia por departamento.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7827264" y="3950208"/>
            <a:ext cx="3337560" cy="1417320"/>
          </a:xfrm>
          <a:prstGeom prst="roundRect">
            <a:avLst>
              <a:gd name="adj" fmla="val 5806"/>
            </a:avLst>
          </a:prstGeom>
          <a:solidFill>
            <a:srgbClr val="182430"/>
          </a:solidFill>
          <a:ln/>
        </p:spPr>
      </p:sp>
      <p:sp>
        <p:nvSpPr>
          <p:cNvPr id="31" name="Shape 24"/>
          <p:cNvSpPr/>
          <p:nvPr/>
        </p:nvSpPr>
        <p:spPr>
          <a:xfrm>
            <a:off x="8055864" y="4178808"/>
            <a:ext cx="457200" cy="457200"/>
          </a:xfrm>
          <a:prstGeom prst="ellipse">
            <a:avLst/>
          </a:prstGeom>
          <a:solidFill>
            <a:srgbClr val="1D2A37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0164" y="4293108"/>
            <a:ext cx="228600" cy="22860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055864" y="472744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Automatización con IA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8055864" y="501091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3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agente por departamento, sin perder el hilo.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640080" y="5897880"/>
            <a:ext cx="10881360" cy="566928"/>
          </a:xfrm>
          <a:prstGeom prst="roundRect">
            <a:avLst>
              <a:gd name="adj" fmla="val 14516"/>
            </a:avLst>
          </a:prstGeom>
          <a:solidFill>
            <a:srgbClr val="1D2A37"/>
          </a:solidFill>
          <a:ln/>
        </p:spPr>
      </p:sp>
      <p:sp>
        <p:nvSpPr>
          <p:cNvPr id="36" name="Text 28"/>
          <p:cNvSpPr/>
          <p:nvPr/>
        </p:nvSpPr>
        <p:spPr>
          <a:xfrm>
            <a:off x="914400" y="589788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84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grupo limitado a 20 empresas — Servicios, Productos y Hospitalidad.</a:t>
            </a:r>
            <a:endParaRPr lang="en-US" sz="1200" dirty="0"/>
          </a:p>
        </p:txBody>
      </p:sp>
      <p:sp>
        <p:nvSpPr>
          <p:cNvPr id="37" name="Text 29"/>
          <p:cNvSpPr/>
          <p:nvPr/>
        </p:nvSpPr>
        <p:spPr>
          <a:xfrm>
            <a:off x="10088575" y="6355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ALLITRON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9A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Construyendo el ecosistema tech de Nayarit.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166360" cy="3840480"/>
          </a:xfrm>
          <a:prstGeom prst="roundRect">
            <a:avLst>
              <a:gd name="adj" fmla="val 2143"/>
            </a:avLst>
          </a:prstGeom>
          <a:solidFill>
            <a:srgbClr val="182430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286000"/>
            <a:ext cx="685800" cy="685800"/>
          </a:xfrm>
          <a:prstGeom prst="ellipse">
            <a:avLst/>
          </a:prstGeom>
          <a:solidFill>
            <a:srgbClr val="1D2A3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1570" y="2457450"/>
            <a:ext cx="342900" cy="342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20040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9A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DE DESARROLLADORES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960120" y="3502152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Talento tecnológico de Tepic y Nayarit, en un solo lugar.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60120" y="420624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3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caminos de entrada: público general, empresas y emprendedores, y creadores de producto digital. Cada uno con su propia experiencia de registro.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080760" y="1965960"/>
            <a:ext cx="5440680" cy="3840480"/>
          </a:xfrm>
          <a:prstGeom prst="roundRect">
            <a:avLst>
              <a:gd name="adj" fmla="val 2143"/>
            </a:avLst>
          </a:prstGeom>
          <a:solidFill>
            <a:srgbClr val="1D2A37"/>
          </a:solidFill>
          <a:ln/>
        </p:spPr>
      </p:sp>
      <p:sp>
        <p:nvSpPr>
          <p:cNvPr id="11" name="Shape 8"/>
          <p:cNvSpPr/>
          <p:nvPr/>
        </p:nvSpPr>
        <p:spPr>
          <a:xfrm>
            <a:off x="6400800" y="2286000"/>
            <a:ext cx="685800" cy="685800"/>
          </a:xfrm>
          <a:prstGeom prst="ellipse">
            <a:avLst/>
          </a:prstGeom>
          <a:solidFill>
            <a:srgbClr val="18243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0" y="2457450"/>
            <a:ext cx="342900" cy="3429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400800" y="320040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28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· 20 SEP 2026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6400800" y="350215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Revolución Tecnológica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00800" y="420624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3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Tepic, Nayarit. Tres charlas, presentación de proyectos seleccionados entre los inscritos, y cierre de networking abierto con DJ.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0088575" y="6355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ALLITRON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9A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EN COMÚN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Adopción tecnológica real, en el terreno.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429000" cy="3291840"/>
          </a:xfrm>
          <a:prstGeom prst="roundRect">
            <a:avLst>
              <a:gd name="adj" fmla="val 2500"/>
            </a:avLst>
          </a:prstGeom>
          <a:solidFill>
            <a:srgbClr val="182430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468880"/>
            <a:ext cx="685800" cy="685800"/>
          </a:xfrm>
          <a:prstGeom prst="ellipse">
            <a:avLst/>
          </a:prstGeom>
          <a:solidFill>
            <a:srgbClr val="1D2A3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1570" y="2640330"/>
            <a:ext cx="342900" cy="342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38328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Negocios reales, presencia real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60120" y="4023360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3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través de Domina Google, ayudamos a negocios locales a optimizar su Google Business Profile y su búsqueda local.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89120" y="2148840"/>
            <a:ext cx="3429000" cy="3291840"/>
          </a:xfrm>
          <a:prstGeom prst="roundRect">
            <a:avLst>
              <a:gd name="adj" fmla="val 2500"/>
            </a:avLst>
          </a:prstGeom>
          <a:solidFill>
            <a:srgbClr val="182430"/>
          </a:solidFill>
          <a:ln/>
        </p:spPr>
      </p:sp>
      <p:sp>
        <p:nvSpPr>
          <p:cNvPr id="10" name="Shape 7"/>
          <p:cNvSpPr/>
          <p:nvPr/>
        </p:nvSpPr>
        <p:spPr>
          <a:xfrm>
            <a:off x="4709160" y="2468880"/>
            <a:ext cx="685800" cy="685800"/>
          </a:xfrm>
          <a:prstGeom prst="ellipse">
            <a:avLst/>
          </a:prstGeom>
          <a:solidFill>
            <a:srgbClr val="1D2A3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0610" y="2640330"/>
            <a:ext cx="342900" cy="3429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09160" y="338328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Comunidad tech en formación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709160" y="4023360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3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Hub y Revolución Tecnológica están construyendo el punto de encuentro que la región no tenía.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38160" y="2148840"/>
            <a:ext cx="3429000" cy="3291840"/>
          </a:xfrm>
          <a:prstGeom prst="roundRect">
            <a:avLst>
              <a:gd name="adj" fmla="val 2500"/>
            </a:avLst>
          </a:prstGeom>
          <a:solidFill>
            <a:srgbClr val="182430"/>
          </a:solidFill>
          <a:ln/>
        </p:spPr>
      </p:sp>
      <p:sp>
        <p:nvSpPr>
          <p:cNvPr id="15" name="Shape 11"/>
          <p:cNvSpPr/>
          <p:nvPr/>
        </p:nvSpPr>
        <p:spPr>
          <a:xfrm>
            <a:off x="8458200" y="2468880"/>
            <a:ext cx="685800" cy="685800"/>
          </a:xfrm>
          <a:prstGeom prst="ellipse">
            <a:avLst/>
          </a:prstGeom>
          <a:solidFill>
            <a:srgbClr val="1D2A3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9650" y="2640330"/>
            <a:ext cx="342900" cy="3429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58200" y="338328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corredor con poca infraestructura digital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458200" y="4023360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3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Tepic y la Riviera Nayarit tienen actividad económica real y talento — falta la infraestructura tecnológica instalada.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40080" y="5760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3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no es una alianza confirmada con Google — es el punto de partida de una conversación.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10088575" y="6355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ALLITRON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8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CONVERSACIÓN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 gustaría explorar cómo podemos colaborar.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8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783080" y="23317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Programas de Google para este ecosistema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783080" y="276148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3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for Startups, créditos de Cloud, o herramientas para negocios locales.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34747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8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783080" y="35204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Presencia de Google en la comunidad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783080" y="395020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3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Hub o en Revolución Tecnológica — como invitado, mentor o participante.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46634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8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1783080" y="470916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Conectar con el equipo correcto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783080" y="513892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3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referencia interna para seguir esta conversación con quien corresponda.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5806440"/>
            <a:ext cx="10881360" cy="594360"/>
          </a:xfrm>
          <a:prstGeom prst="roundRect">
            <a:avLst>
              <a:gd name="adj" fmla="val 13846"/>
            </a:avLst>
          </a:prstGeom>
          <a:solidFill>
            <a:srgbClr val="18243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580644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3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pedir nada cerrado hoy — solo abrir la puerta.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088575" y="6355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ALLITRON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6400800" cy="6400800"/>
          </a:xfrm>
          <a:prstGeom prst="ellipse">
            <a:avLst/>
          </a:prstGeom>
          <a:solidFill>
            <a:srgbClr val="034058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GRACIAS.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822960" y="34290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9A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Hablemos de cómo construir esto juntos.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51206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Lups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3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Somos Lázaro / Allitron
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3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auroraialazaro@gmail.com
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3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somoslazaro.com   ·   Nayarit, México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2026-08-14T19:10:55Z</dcterms:created>
  <dcterms:modified xsi:type="dcterms:W3CDTF">2026-08-14T19:10:55Z</dcterms:modified>
</cp:coreProperties>
</file>